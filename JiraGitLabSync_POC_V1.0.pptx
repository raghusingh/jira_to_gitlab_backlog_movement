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-62" y="-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7571E-5EAF-451B-BBFB-208F24B57D2C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30FC3-CB15-44F9-94A7-B3759F00A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670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tlassian.com/console/myapp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lab.com/-/profile/applications" TargetMode="External"/><Relationship Id="rId4" Type="http://schemas.openxmlformats.org/officeDocument/2006/relationships/hyperlink" Target="https://singhraghubir2311.atlassian.net/_edge/tenant_inf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146304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→ GitLab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Service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replication of Jira Stories, Bugs &amp; Tasks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GitLab milestones using a .NET 8 Windows Service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.NET 8  ·  Windows Service  ·  Jira REST API v3  ·  GitLab REST API v4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Three challenges driving the need for this sync service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07008"/>
            <a:ext cx="64008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99616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129844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Limited Jira Access — Entire Team Cannot See Work Items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1627632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Stories and Bugs are created and managed in Jira, but only a few team members have Jira licences. Developers, QA, and other contributors who work in GitLab daily have no visibility into planned work items, sprint scope, or ticket details — creating a blind spot across the team.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04872"/>
            <a:ext cx="64008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697480"/>
            <a:ext cx="475488" cy="47548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249631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Disconnected Tools — Code in GitLab, Work Tracking in Jira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2825496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All code repositories live in GitLab which every team member can access, but sprint planning, stories, and bugs remain siloed in Jira. Developers must context-switch between two systems to understand what to build, making it difficult to track sprint progress or link commits to work items.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02736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02736"/>
            <a:ext cx="64008" cy="107899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895344"/>
            <a:ext cx="475488" cy="475488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895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36941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Manual Work Tracking — Team Managing Tasks &amp; Status in Excel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1872" y="402336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Without access to Jira or a shared system, team members resort to maintaining tasks, assignments, and work status in Excel spreadsheets. This leads to version conflicts, stale data, no sprint-wise progress tracking, and zero traceability between work items and the actual code being delivered.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Jira → GitLab Sync Service  |  POC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Benefits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What the team gains by syncing Jira to GitLab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633472" cy="4206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30759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307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316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Whole Team Visibility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" y="170992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Every team member — developer, QA, designer — can view sprint stories, bugs and tasks directly in GitLab without needing a Jira licence.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34440"/>
            <a:ext cx="2633472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23444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4136" y="130759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1307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🗂️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49040" y="1316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Single Source of Truth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74136" y="170992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Replaces fragmented Excel sheets with structured GitLab issues. Work status, assignees and story points are always up to date and version-controlled.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23444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234440"/>
            <a:ext cx="2633472" cy="4206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234440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1307592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307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1316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Sprint-wise Progress Tracking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63056" y="170992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Tickets are mapped to GitLab milestones matching the current sprint. Teams can track velocity, completion rate and sprint health directly in GitLab.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816352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16352"/>
            <a:ext cx="2633472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816352"/>
            <a:ext cx="54864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" y="288950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0120" y="28986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Code ↔ Work Item Traceability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" y="32918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With issues in GitLab, developers can reference ticket IDs in commits and merge requests — linking code changes directly to the business requirement.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2816352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2816352"/>
            <a:ext cx="2633472" cy="420624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2816352"/>
            <a:ext cx="54864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74136" y="2889504"/>
            <a:ext cx="292608" cy="29260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74136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⚡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49040" y="28986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Zero Manual Effort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74136" y="32918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service runs automatically every 15 minutes. No copy-pasting, no spreadsheet updates — the sync is fully hands-free once deployed.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0" y="2816352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2816352"/>
            <a:ext cx="2633472" cy="420624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2816352"/>
            <a:ext cx="54864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63056" y="2889504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63056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📊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37960" y="28986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Better Reporting &amp; Retrospectives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63056" y="32918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GitLab burndown charts, issue boards and milestone reports give the team accurate sprint data for retrospectives and stakeholder updates.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370832"/>
            <a:ext cx="8229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3708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No Jira licence needed for developers     ✓ Replaces Excel tracking     ✓ Sprint progress in GitLab     ✓ Fully automated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Jira → GitLab Sync Service  |  POC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 .NET 8 Windows Service that automatically replicates Jira tickets to GitLab on a configurable schedule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256032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44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Jira Cloud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Stories · Bugs · Tasks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0"/>
            <a:ext cx="25603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444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Sync Service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1828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.NET 8 Windows Service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371600"/>
            <a:ext cx="25603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1444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GitLab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0" y="1828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Issues · Milestones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98648" y="1737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580C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41848" y="1737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580C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⏱ Scheduled Sync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2990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Runs every 15 min (configurable). Auto-retry on failure.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260604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55848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🎯 Smart Routing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55848" y="2990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milestone today → sprint. No milestone → Backlog.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60604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36208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🔁 Create &amp; Update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2990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New tickets are created; existing ones are updated in place.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🏷 Field Mapping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ID, Description, Assignee, Dates, Story Points all synced.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70332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55848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📝 Full Logging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5848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Microsoft ILogger with Debug/Info/Warn/Error levels.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370332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36208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⚙️ Config-Driven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All settings in appsettings.json — no recompile needed.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Jira → GitLab Sync Service  |  POC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Layered .NET 8 service with clean separation of concerns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82296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44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Worker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SyncWorker  (BackgroundService)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389888"/>
            <a:ext cx="18288" cy="4754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38988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Timer loop · Retry logic · Graceful shutdown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956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Orchestration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4323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SyncOrchestrator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2194560"/>
            <a:ext cx="18288" cy="4754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19456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Milestone routing · Create vs Update decision · Error isolation per ticket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2761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82296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53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JiraService  +  GitLabService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2999232"/>
            <a:ext cx="18288" cy="4754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99923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REST API clients · Pagination · User lookup · Milestone cache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35661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12464"/>
            <a:ext cx="8229600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758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Layer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041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JiraModels  ·  GitLabModels  ·  SyncTicket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3803904"/>
            <a:ext cx="18288" cy="4754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80390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Typed DTOs · ADF → plain-text · Field resolution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Jira → GitLab Sync Service  |  POC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How Jira ticket data maps to GitLab issue fields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Jira Field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GitLab Field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93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Story / Bug / Task Key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0" y="160934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Issue title prefix [PROJ-42]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0" y="160934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Enables duplicate detection on re-sync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82296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299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Summary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08960" y="202996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Issue title (after prefix)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0" y="202996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Full summary preserved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5059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Description (ADF)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08960" y="245059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Issue description (Markdown)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5059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Atlassian ADF flattened to plain 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71216"/>
            <a:ext cx="82296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7121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Assignee display name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08960" y="287121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Assignee (matched by name/email)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0" y="2871216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Skipped on free-tier GitLab (403)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291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Sprint start date → end date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08960" y="329184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Shown in description: From → To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0" y="329184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Also drives milestone selection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12464"/>
            <a:ext cx="82296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1246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Story Points (customfield)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08960" y="371246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Issue weight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0" y="371246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Tries 3 common custom field names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133088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3308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Issue type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108960" y="41330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GitLab label (story / bug / task)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0" y="413308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Configurable via LabelMappings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Jira → GitLab Sync Service  |  POC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Screenshots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Jira → GitLab Sync Service  |  POC</a:t>
            </a:r>
            <a:endParaRPr lang="en-US" sz="1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42" y="980184"/>
            <a:ext cx="8114478" cy="3729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894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Screenshots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Jira → GitLab Sync Service  |  POC</a:t>
            </a:r>
            <a:endParaRPr lang="en-US" sz="1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20" y="993341"/>
            <a:ext cx="7999354" cy="3644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0739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Tickets - Screenshot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Jira → GitLab Sync Service  |  POC</a:t>
            </a:r>
            <a:endParaRPr lang="en-US" sz="1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01328"/>
            <a:ext cx="8229600" cy="3919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483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Jira Tickets to GitLab - Screenshot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Jira → GitLab Sync Service  |  POC</a:t>
            </a:r>
            <a:endParaRPr lang="en-US" sz="1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22960"/>
            <a:ext cx="8338144" cy="3874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483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and GitLab Authorization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Jira → GitLab Sync Service  |  POC</a:t>
            </a:r>
            <a:endParaRPr lang="en-US" sz="1000" dirty="0"/>
          </a:p>
        </p:txBody>
      </p:sp>
      <p:sp>
        <p:nvSpPr>
          <p:cNvPr id="3" name="Rectangle 2"/>
          <p:cNvSpPr/>
          <p:nvPr/>
        </p:nvSpPr>
        <p:spPr>
          <a:xfrm>
            <a:off x="506537" y="924856"/>
            <a:ext cx="7209945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b="1" dirty="0"/>
              <a:t>Setup on Atlassian Developer Console</a:t>
            </a:r>
            <a:endParaRPr lang="en-IN" sz="1000" dirty="0"/>
          </a:p>
          <a:p>
            <a:r>
              <a:rPr lang="en-IN" sz="1000" b="1" dirty="0"/>
              <a:t>Step 1 — Create an </a:t>
            </a:r>
            <a:r>
              <a:rPr lang="en-IN" sz="1000" b="1" dirty="0" err="1"/>
              <a:t>OAuth</a:t>
            </a:r>
            <a:r>
              <a:rPr lang="en-IN" sz="1000" b="1" dirty="0"/>
              <a:t> App:</a:t>
            </a:r>
            <a:endParaRPr lang="en-IN" sz="1000" dirty="0"/>
          </a:p>
          <a:p>
            <a:pPr lvl="1"/>
            <a:r>
              <a:rPr lang="en-IN" sz="1000" dirty="0"/>
              <a:t>Go to </a:t>
            </a:r>
            <a:r>
              <a:rPr lang="en-IN" sz="1000" u="sng" dirty="0">
                <a:hlinkClick r:id="rId3"/>
              </a:rPr>
              <a:t>https://developer.atlassian.com/console/myapps/</a:t>
            </a:r>
            <a:endParaRPr lang="en-IN" sz="1000" dirty="0"/>
          </a:p>
          <a:p>
            <a:pPr lvl="1"/>
            <a:r>
              <a:rPr lang="en-IN" sz="1000" dirty="0"/>
              <a:t>Click </a:t>
            </a:r>
            <a:r>
              <a:rPr lang="en-IN" sz="1000" b="1" dirty="0"/>
              <a:t>Create</a:t>
            </a:r>
            <a:r>
              <a:rPr lang="en-IN" sz="1000" dirty="0"/>
              <a:t> → </a:t>
            </a:r>
            <a:r>
              <a:rPr lang="en-IN" sz="1000" b="1" dirty="0" err="1"/>
              <a:t>OAuth</a:t>
            </a:r>
            <a:r>
              <a:rPr lang="en-IN" sz="1000" b="1" dirty="0"/>
              <a:t> 2.0 integration</a:t>
            </a:r>
            <a:endParaRPr lang="en-IN" sz="1000" dirty="0"/>
          </a:p>
          <a:p>
            <a:pPr lvl="1"/>
            <a:r>
              <a:rPr lang="en-IN" sz="1000" dirty="0"/>
              <a:t>Give it a name e.g. </a:t>
            </a:r>
            <a:r>
              <a:rPr lang="en-IN" sz="1000" dirty="0" err="1"/>
              <a:t>JiraGitLabSync</a:t>
            </a:r>
            <a:endParaRPr lang="en-IN" sz="1000" dirty="0"/>
          </a:p>
          <a:p>
            <a:pPr lvl="1"/>
            <a:r>
              <a:rPr lang="en-IN" sz="1000" dirty="0"/>
              <a:t>Click </a:t>
            </a:r>
            <a:r>
              <a:rPr lang="en-IN" sz="1000" b="1" dirty="0"/>
              <a:t>Create</a:t>
            </a:r>
            <a:endParaRPr lang="en-IN" sz="1000" dirty="0"/>
          </a:p>
          <a:p>
            <a:r>
              <a:rPr lang="en-IN" sz="1000" b="1" dirty="0"/>
              <a:t>Step 2 — Add permissions:</a:t>
            </a:r>
            <a:endParaRPr lang="en-IN" sz="1000" dirty="0"/>
          </a:p>
          <a:p>
            <a:pPr lvl="1"/>
            <a:r>
              <a:rPr lang="en-IN" sz="1000" dirty="0"/>
              <a:t>Go to </a:t>
            </a:r>
            <a:r>
              <a:rPr lang="en-IN" sz="1000" b="1" dirty="0"/>
              <a:t>Permissions</a:t>
            </a:r>
            <a:r>
              <a:rPr lang="en-IN" sz="1000" dirty="0"/>
              <a:t> tab</a:t>
            </a:r>
          </a:p>
          <a:p>
            <a:pPr lvl="1"/>
            <a:r>
              <a:rPr lang="en-IN" sz="1000" dirty="0"/>
              <a:t>Add </a:t>
            </a:r>
            <a:r>
              <a:rPr lang="en-IN" sz="1000" b="1" dirty="0" err="1"/>
              <a:t>Jira</a:t>
            </a:r>
            <a:r>
              <a:rPr lang="en-IN" sz="1000" b="1" dirty="0"/>
              <a:t> API</a:t>
            </a:r>
            <a:r>
              <a:rPr lang="en-IN" sz="1000" dirty="0"/>
              <a:t> → enable </a:t>
            </a:r>
            <a:r>
              <a:rPr lang="en-IN" sz="1000" dirty="0" err="1"/>
              <a:t>read:jira-work</a:t>
            </a:r>
            <a:endParaRPr lang="en-IN" sz="1000" dirty="0"/>
          </a:p>
          <a:p>
            <a:r>
              <a:rPr lang="en-IN" sz="1000" b="1" dirty="0"/>
              <a:t>Step 3 — Get your credentials:</a:t>
            </a:r>
            <a:endParaRPr lang="en-IN" sz="1000" dirty="0"/>
          </a:p>
          <a:p>
            <a:pPr lvl="1"/>
            <a:r>
              <a:rPr lang="en-IN" sz="1000" dirty="0"/>
              <a:t>Go to </a:t>
            </a:r>
            <a:r>
              <a:rPr lang="en-IN" sz="1000" b="1" dirty="0"/>
              <a:t>Settings</a:t>
            </a:r>
            <a:r>
              <a:rPr lang="en-IN" sz="1000" dirty="0"/>
              <a:t> tab</a:t>
            </a:r>
          </a:p>
          <a:p>
            <a:pPr lvl="1"/>
            <a:r>
              <a:rPr lang="en-IN" sz="1000" dirty="0"/>
              <a:t>Copy </a:t>
            </a:r>
            <a:r>
              <a:rPr lang="en-IN" sz="1000" b="1" dirty="0"/>
              <a:t>Client ID</a:t>
            </a:r>
            <a:r>
              <a:rPr lang="en-IN" sz="1000" dirty="0"/>
              <a:t> and </a:t>
            </a:r>
            <a:r>
              <a:rPr lang="en-IN" sz="1000" b="1" dirty="0"/>
              <a:t>Client Secret</a:t>
            </a:r>
            <a:endParaRPr lang="en-IN" sz="1000" dirty="0"/>
          </a:p>
          <a:p>
            <a:r>
              <a:rPr lang="en-IN" sz="1000" b="1" dirty="0"/>
              <a:t>Step 4 — Get Cloud ID:</a:t>
            </a:r>
            <a:endParaRPr lang="en-IN" sz="1000" dirty="0"/>
          </a:p>
          <a:p>
            <a:pPr lvl="0"/>
            <a:r>
              <a:rPr lang="en-IN" sz="1000" u="sng" dirty="0">
                <a:hlinkClick r:id="rId4"/>
              </a:rPr>
              <a:t>https://singhraghubir2311.atlassian.net/_edge/tenant_info</a:t>
            </a:r>
            <a:endParaRPr lang="en-IN" sz="1000" dirty="0"/>
          </a:p>
          <a:p>
            <a:r>
              <a:rPr lang="en-IN" sz="1000" dirty="0"/>
              <a:t> </a:t>
            </a:r>
          </a:p>
          <a:p>
            <a:r>
              <a:rPr lang="en-IN" sz="1000" b="1" dirty="0"/>
              <a:t>Setup on </a:t>
            </a:r>
            <a:r>
              <a:rPr lang="en-IN" sz="1000" b="1" dirty="0" err="1"/>
              <a:t>GitLab</a:t>
            </a:r>
            <a:endParaRPr lang="en-IN" sz="1000" dirty="0"/>
          </a:p>
          <a:p>
            <a:r>
              <a:rPr lang="en-IN" sz="1000" b="1" dirty="0"/>
              <a:t>Step 1 — Create an </a:t>
            </a:r>
            <a:r>
              <a:rPr lang="en-IN" sz="1000" b="1" dirty="0" err="1"/>
              <a:t>OAuth</a:t>
            </a:r>
            <a:r>
              <a:rPr lang="en-IN" sz="1000" b="1" dirty="0"/>
              <a:t> App:</a:t>
            </a:r>
            <a:endParaRPr lang="en-IN" sz="1000" dirty="0"/>
          </a:p>
          <a:p>
            <a:pPr lvl="1"/>
            <a:r>
              <a:rPr lang="en-IN" sz="1000" dirty="0"/>
              <a:t>Go to </a:t>
            </a:r>
            <a:r>
              <a:rPr lang="en-IN" sz="1000" b="1" dirty="0" err="1"/>
              <a:t>GitLab</a:t>
            </a:r>
            <a:r>
              <a:rPr lang="en-IN" sz="1000" b="1" dirty="0"/>
              <a:t> → User Settings → Applications</a:t>
            </a:r>
            <a:r>
              <a:rPr lang="en-IN" sz="1000" dirty="0"/>
              <a:t> (or </a:t>
            </a:r>
            <a:r>
              <a:rPr lang="en-IN" sz="1000" u="sng" dirty="0">
                <a:hlinkClick r:id="rId5"/>
              </a:rPr>
              <a:t>https://gitlab.com/-/profile/applications</a:t>
            </a:r>
            <a:r>
              <a:rPr lang="en-IN" sz="1000" dirty="0"/>
              <a:t>)</a:t>
            </a:r>
          </a:p>
          <a:p>
            <a:pPr lvl="1"/>
            <a:r>
              <a:rPr lang="en-IN" sz="1000" dirty="0"/>
              <a:t>Fill in: </a:t>
            </a:r>
          </a:p>
          <a:p>
            <a:pPr lvl="2"/>
            <a:r>
              <a:rPr lang="en-IN" sz="1000" b="1" dirty="0"/>
              <a:t>Name:</a:t>
            </a:r>
            <a:r>
              <a:rPr lang="en-IN" sz="1000" dirty="0"/>
              <a:t> </a:t>
            </a:r>
            <a:r>
              <a:rPr lang="en-IN" sz="1000" dirty="0" err="1"/>
              <a:t>JiraGitLabSync</a:t>
            </a:r>
            <a:endParaRPr lang="en-IN" sz="1000" dirty="0"/>
          </a:p>
          <a:p>
            <a:pPr lvl="2"/>
            <a:r>
              <a:rPr lang="en-IN" sz="1000" b="1" dirty="0"/>
              <a:t>Redirect URI:</a:t>
            </a:r>
            <a:r>
              <a:rPr lang="en-IN" sz="1000" dirty="0"/>
              <a:t> http://localhost (required field, not actually used)</a:t>
            </a:r>
          </a:p>
          <a:p>
            <a:pPr lvl="2"/>
            <a:r>
              <a:rPr lang="en-IN" sz="1000" b="1" dirty="0"/>
              <a:t>Scopes:</a:t>
            </a:r>
            <a:r>
              <a:rPr lang="en-IN" sz="1000" dirty="0"/>
              <a:t> check </a:t>
            </a:r>
            <a:r>
              <a:rPr lang="en-IN" sz="1000" dirty="0" err="1"/>
              <a:t>api</a:t>
            </a:r>
            <a:endParaRPr lang="en-IN" sz="1000" dirty="0"/>
          </a:p>
          <a:p>
            <a:pPr lvl="0"/>
            <a:r>
              <a:rPr lang="en-IN" sz="1000" dirty="0" smtClean="0"/>
              <a:t>	Click </a:t>
            </a:r>
            <a:r>
              <a:rPr lang="en-IN" sz="1000" b="1" dirty="0"/>
              <a:t>Save application</a:t>
            </a:r>
            <a:endParaRPr lang="en-IN" sz="1000" dirty="0"/>
          </a:p>
          <a:p>
            <a:pPr lvl="0"/>
            <a:r>
              <a:rPr lang="en-IN" sz="1000" dirty="0" smtClean="0"/>
              <a:t>	Copy </a:t>
            </a:r>
            <a:r>
              <a:rPr lang="en-IN" sz="1000" dirty="0"/>
              <a:t>the </a:t>
            </a:r>
            <a:r>
              <a:rPr lang="en-IN" sz="1000" b="1" dirty="0"/>
              <a:t>Application ID</a:t>
            </a:r>
            <a:r>
              <a:rPr lang="en-IN" sz="1000" dirty="0"/>
              <a:t> (Client ID) and </a:t>
            </a:r>
            <a:r>
              <a:rPr lang="en-IN" sz="1000" b="1" dirty="0"/>
              <a:t>Secret</a:t>
            </a:r>
            <a:endParaRPr lang="en-IN" sz="1000" dirty="0"/>
          </a:p>
          <a:p>
            <a:r>
              <a:rPr lang="en-IN" sz="10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9926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941</Words>
  <Application>Microsoft Office PowerPoint</Application>
  <PresentationFormat>On-screen Show (16:9)</PresentationFormat>
  <Paragraphs>154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singh.raghubir2311@gmail.com</cp:lastModifiedBy>
  <cp:revision>6</cp:revision>
  <dcterms:created xsi:type="dcterms:W3CDTF">2026-06-02T10:38:53Z</dcterms:created>
  <dcterms:modified xsi:type="dcterms:W3CDTF">2026-06-07T17:18:51Z</dcterms:modified>
</cp:coreProperties>
</file>